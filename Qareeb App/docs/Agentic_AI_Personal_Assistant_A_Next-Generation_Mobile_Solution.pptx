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61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5126-7A5C-5402-C200-FD923BECB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F8320-478E-1ED8-CC8F-E20665486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0C0B2-824A-4946-00D7-47DDED366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0901E-FAFA-3CEC-FB76-3E4E95C65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8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ZNkWWtxbpc3uKEaw0kXe1EsEHNV6KavYRQk7lzeh_0c/edit?tab=t.0" TargetMode="External"/><Relationship Id="rId2" Type="http://schemas.openxmlformats.org/officeDocument/2006/relationships/hyperlink" Target="https://dl.acm.org/doi/pdf/10.1145/3701716.371752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to Agentic AI Personal Assistants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26889"/>
            <a:ext cx="1950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480836" y="826889"/>
            <a:ext cx="18627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agentic AI personal assistant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343569" y="841912"/>
            <a:ext cx="1354538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 a next-generation AI 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85750" y="1026914"/>
            <a:ext cx="740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that: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57200" y="13287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Understands natural language commands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57200" y="15573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Breaks down complex tasks into actionable steps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457200" y="17859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Executes tasks across various applications autonomously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457200" y="20145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Maintains context and learns from interactions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457200" y="22431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Proactively assists users based on patterns and preferences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285750" y="2593181"/>
            <a:ext cx="16132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traditional assistants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1898982" y="2593181"/>
            <a:ext cx="19904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(Siri, Alexa) that primarily respond to 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285750" y="2764631"/>
            <a:ext cx="2232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specific commands, our agentic assistant: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457200" y="30432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 agency to plan and execute multi-step tasks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457200" y="32718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Integrates with a wide range of tools and services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57200" y="35004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Adapts to user preferences and behavior over time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457200" y="37290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Operates within a secure, sandboxed environment</a:t>
            </a:r>
            <a:endParaRPr lang="en-US" sz="837" dirty="0"/>
          </a:p>
        </p:txBody>
      </p:sp>
      <p:sp>
        <p:nvSpPr>
          <p:cNvPr id="21" name="Text 17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FE4EE5E-F3E0-FA10-7EAB-BF4E8BAB8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320" y="1114425"/>
            <a:ext cx="4530769" cy="2355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77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AI Components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75" y="951262"/>
            <a:ext cx="2463880" cy="394220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14875" y="1918097"/>
            <a:ext cx="1885950" cy="628650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4714875" y="1918097"/>
            <a:ext cx="21431" cy="62865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3"/>
          <p:cNvSpPr/>
          <p:nvPr/>
        </p:nvSpPr>
        <p:spPr>
          <a:xfrm>
            <a:off x="4772025" y="1975247"/>
            <a:ext cx="1771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Speech-to-Text (STT)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4772025" y="2168128"/>
            <a:ext cx="17716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Converts spoken language into text</a:t>
            </a:r>
            <a:endParaRPr lang="en-US" sz="732" dirty="0"/>
          </a:p>
        </p:txBody>
      </p:sp>
      <p:sp>
        <p:nvSpPr>
          <p:cNvPr id="9" name="Shape 5"/>
          <p:cNvSpPr/>
          <p:nvPr/>
        </p:nvSpPr>
        <p:spPr>
          <a:xfrm>
            <a:off x="6686550" y="1918097"/>
            <a:ext cx="1885950" cy="628650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686550" y="1918097"/>
            <a:ext cx="21431" cy="62865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7"/>
          <p:cNvSpPr/>
          <p:nvPr/>
        </p:nvSpPr>
        <p:spPr>
          <a:xfrm>
            <a:off x="6743700" y="1975247"/>
            <a:ext cx="1771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Language Understanding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6743700" y="2339578"/>
            <a:ext cx="17716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Interprets text and determines intent</a:t>
            </a:r>
            <a:endParaRPr lang="en-US" sz="732" dirty="0"/>
          </a:p>
        </p:txBody>
      </p:sp>
      <p:sp>
        <p:nvSpPr>
          <p:cNvPr id="13" name="Shape 9"/>
          <p:cNvSpPr/>
          <p:nvPr/>
        </p:nvSpPr>
        <p:spPr>
          <a:xfrm>
            <a:off x="4714875" y="2632472"/>
            <a:ext cx="1885950" cy="607219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4714875" y="2632472"/>
            <a:ext cx="21431" cy="6072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5" name="Text 11"/>
          <p:cNvSpPr/>
          <p:nvPr/>
        </p:nvSpPr>
        <p:spPr>
          <a:xfrm>
            <a:off x="4772025" y="2764631"/>
            <a:ext cx="1771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 Planning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4772025" y="2957513"/>
            <a:ext cx="17716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Breaks requests into actionable steps</a:t>
            </a:r>
            <a:endParaRPr lang="en-US" sz="732" dirty="0"/>
          </a:p>
        </p:txBody>
      </p:sp>
      <p:sp>
        <p:nvSpPr>
          <p:cNvPr id="17" name="Shape 13"/>
          <p:cNvSpPr/>
          <p:nvPr/>
        </p:nvSpPr>
        <p:spPr>
          <a:xfrm>
            <a:off x="6686550" y="2707481"/>
            <a:ext cx="1885950" cy="457200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6686550" y="2707481"/>
            <a:ext cx="21431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5"/>
          <p:cNvSpPr/>
          <p:nvPr/>
        </p:nvSpPr>
        <p:spPr>
          <a:xfrm>
            <a:off x="6743700" y="2764631"/>
            <a:ext cx="1771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 Execution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6743700" y="2957513"/>
            <a:ext cx="17716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Interfaces with external systems</a:t>
            </a:r>
            <a:endParaRPr lang="en-US" sz="732" dirty="0"/>
          </a:p>
        </p:txBody>
      </p:sp>
      <p:sp>
        <p:nvSpPr>
          <p:cNvPr id="21" name="Shape 17"/>
          <p:cNvSpPr/>
          <p:nvPr/>
        </p:nvSpPr>
        <p:spPr>
          <a:xfrm>
            <a:off x="4714875" y="3250406"/>
            <a:ext cx="1885950" cy="457200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714875" y="3250406"/>
            <a:ext cx="21431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19"/>
          <p:cNvSpPr/>
          <p:nvPr/>
        </p:nvSpPr>
        <p:spPr>
          <a:xfrm>
            <a:off x="4772025" y="3307556"/>
            <a:ext cx="1771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Text-to-Speech</a:t>
            </a:r>
            <a:endParaRPr lang="en-US" sz="837" dirty="0"/>
          </a:p>
        </p:txBody>
      </p:sp>
      <p:sp>
        <p:nvSpPr>
          <p:cNvPr id="24" name="Text 20"/>
          <p:cNvSpPr/>
          <p:nvPr/>
        </p:nvSpPr>
        <p:spPr>
          <a:xfrm>
            <a:off x="4772025" y="3500438"/>
            <a:ext cx="17716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Converts text to natural speech</a:t>
            </a:r>
            <a:endParaRPr lang="en-US" sz="732" dirty="0"/>
          </a:p>
        </p:txBody>
      </p:sp>
      <p:sp>
        <p:nvSpPr>
          <p:cNvPr id="25" name="Shape 21"/>
          <p:cNvSpPr/>
          <p:nvPr/>
        </p:nvSpPr>
        <p:spPr>
          <a:xfrm>
            <a:off x="6686550" y="3250406"/>
            <a:ext cx="1885950" cy="457200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6686550" y="3250406"/>
            <a:ext cx="21431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7" name="Text 23"/>
          <p:cNvSpPr/>
          <p:nvPr/>
        </p:nvSpPr>
        <p:spPr>
          <a:xfrm>
            <a:off x="6743700" y="3307556"/>
            <a:ext cx="1771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 &amp; Memory</a:t>
            </a:r>
            <a:endParaRPr lang="en-US" sz="837" dirty="0"/>
          </a:p>
        </p:txBody>
      </p:sp>
      <p:sp>
        <p:nvSpPr>
          <p:cNvPr id="28" name="Text 24"/>
          <p:cNvSpPr/>
          <p:nvPr/>
        </p:nvSpPr>
        <p:spPr>
          <a:xfrm>
            <a:off x="6743700" y="3500438"/>
            <a:ext cx="17716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Maintains history and preferences</a:t>
            </a:r>
            <a:endParaRPr lang="en-US" sz="732" dirty="0"/>
          </a:p>
        </p:txBody>
      </p:sp>
      <p:sp>
        <p:nvSpPr>
          <p:cNvPr id="29" name="Text 25"/>
          <p:cNvSpPr/>
          <p:nvPr/>
        </p:nvSpPr>
        <p:spPr>
          <a:xfrm>
            <a:off x="8935743" y="4893469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Agent Loop: How It Works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agentic AI personal assistant operates through an iterative "agent loop" that enables it to understand, plan, and execute complex tasks:</a:t>
            </a:r>
            <a:endParaRPr lang="en-US" sz="837" dirty="0"/>
          </a:p>
        </p:txBody>
      </p:sp>
      <p:sp>
        <p:nvSpPr>
          <p:cNvPr id="6" name="Shape 2"/>
          <p:cNvSpPr/>
          <p:nvPr/>
        </p:nvSpPr>
        <p:spPr>
          <a:xfrm>
            <a:off x="4743450" y="1457325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7" name="Text 3"/>
          <p:cNvSpPr/>
          <p:nvPr/>
        </p:nvSpPr>
        <p:spPr>
          <a:xfrm>
            <a:off x="4743450" y="14573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5029200" y="1457325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 Context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5029200" y="1650206"/>
            <a:ext cx="3829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the user's intent and current state based on the request and previous interactions.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4743450" y="2100263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1" name="Text 7"/>
          <p:cNvSpPr/>
          <p:nvPr/>
        </p:nvSpPr>
        <p:spPr>
          <a:xfrm>
            <a:off x="4743450" y="21002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5029200" y="2100263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Think &amp; Plan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5029200" y="2293144"/>
            <a:ext cx="3829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Reason about the task, update plans, and determine the next action to take.</a:t>
            </a:r>
            <a:endParaRPr lang="en-US" sz="837" dirty="0"/>
          </a:p>
        </p:txBody>
      </p:sp>
      <p:sp>
        <p:nvSpPr>
          <p:cNvPr id="14" name="Shape 10"/>
          <p:cNvSpPr/>
          <p:nvPr/>
        </p:nvSpPr>
        <p:spPr>
          <a:xfrm>
            <a:off x="4743450" y="2743200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5" name="Text 11"/>
          <p:cNvSpPr/>
          <p:nvPr/>
        </p:nvSpPr>
        <p:spPr>
          <a:xfrm>
            <a:off x="4743450" y="27432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5029200" y="2743200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&amp; Execute Tools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5029200" y="2936081"/>
            <a:ext cx="3829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appropriate tools from the available toolkit and execute them within the sandboxed environment.</a:t>
            </a:r>
            <a:endParaRPr lang="en-US" sz="837" dirty="0"/>
          </a:p>
        </p:txBody>
      </p:sp>
      <p:sp>
        <p:nvSpPr>
          <p:cNvPr id="18" name="Shape 14"/>
          <p:cNvSpPr/>
          <p:nvPr/>
        </p:nvSpPr>
        <p:spPr>
          <a:xfrm>
            <a:off x="4743450" y="3386138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9" name="Text 15"/>
          <p:cNvSpPr/>
          <p:nvPr/>
        </p:nvSpPr>
        <p:spPr>
          <a:xfrm>
            <a:off x="4743450" y="33861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5029200" y="3386138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Observe &amp; Iterate</a:t>
            </a:r>
            <a:endParaRPr lang="en-US" sz="837" dirty="0"/>
          </a:p>
        </p:txBody>
      </p:sp>
      <p:sp>
        <p:nvSpPr>
          <p:cNvPr id="21" name="Text 17"/>
          <p:cNvSpPr/>
          <p:nvPr/>
        </p:nvSpPr>
        <p:spPr>
          <a:xfrm>
            <a:off x="5029200" y="3579019"/>
            <a:ext cx="3829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the results of tool execution, incorporate new information, and continue the loop until task completion.</a:t>
            </a:r>
            <a:endParaRPr lang="en-US" sz="837" dirty="0"/>
          </a:p>
        </p:txBody>
      </p:sp>
      <p:sp>
        <p:nvSpPr>
          <p:cNvPr id="22" name="Shape 18"/>
          <p:cNvSpPr/>
          <p:nvPr/>
        </p:nvSpPr>
        <p:spPr>
          <a:xfrm>
            <a:off x="4743450" y="4029075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3" name="Text 19"/>
          <p:cNvSpPr/>
          <p:nvPr/>
        </p:nvSpPr>
        <p:spPr>
          <a:xfrm>
            <a:off x="4743450" y="40290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24" name="Text 20"/>
          <p:cNvSpPr/>
          <p:nvPr/>
        </p:nvSpPr>
        <p:spPr>
          <a:xfrm>
            <a:off x="5029200" y="4029075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 Outcome</a:t>
            </a:r>
            <a:endParaRPr lang="en-US" sz="837" dirty="0"/>
          </a:p>
        </p:txBody>
      </p:sp>
      <p:sp>
        <p:nvSpPr>
          <p:cNvPr id="25" name="Text 21"/>
          <p:cNvSpPr/>
          <p:nvPr/>
        </p:nvSpPr>
        <p:spPr>
          <a:xfrm>
            <a:off x="5029200" y="4221956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 results to the user and maintain context for future interactions.</a:t>
            </a:r>
            <a:endParaRPr lang="en-US" sz="837" dirty="0"/>
          </a:p>
        </p:txBody>
      </p:sp>
      <p:sp>
        <p:nvSpPr>
          <p:cNvPr id="26" name="Text 22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pic>
        <p:nvPicPr>
          <p:cNvPr id="1026" name="Picture 2" descr="Agent Loop Flowchart">
            <a:extLst>
              <a:ext uri="{FF2B5EF4-FFF2-40B4-BE49-F238E27FC236}">
                <a16:creationId xmlns:a16="http://schemas.microsoft.com/office/drawing/2014/main" id="{9ACD34C1-FC7D-64AD-4B9C-7EABD538C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50" y="1359884"/>
            <a:ext cx="2396406" cy="336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 Integration Approaches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1485900"/>
            <a:ext cx="411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agentic AI personal assistant integrates with external tools and services through three main approaches:</a:t>
            </a:r>
            <a:endParaRPr lang="en-US" sz="837" dirty="0"/>
          </a:p>
        </p:txBody>
      </p:sp>
      <p:sp>
        <p:nvSpPr>
          <p:cNvPr id="5" name="Text 2"/>
          <p:cNvSpPr/>
          <p:nvPr/>
        </p:nvSpPr>
        <p:spPr>
          <a:xfrm>
            <a:off x="414338" y="2000250"/>
            <a:ext cx="3986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API-Based Integration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14338" y="2228850"/>
            <a:ext cx="39862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programmatic access to services via structured APIs</a:t>
            </a:r>
            <a:endParaRPr lang="en-US" sz="83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2461022"/>
            <a:ext cx="100013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2925" y="2443163"/>
            <a:ext cx="11906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Reliable, efficient, secure</a:t>
            </a:r>
            <a:endParaRPr lang="en-US" sz="732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025" y="2461022"/>
            <a:ext cx="100013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3612" y="2443163"/>
            <a:ext cx="12211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Limited by API availability</a:t>
            </a:r>
            <a:endParaRPr lang="en-US" sz="732" dirty="0"/>
          </a:p>
        </p:txBody>
      </p:sp>
      <p:sp>
        <p:nvSpPr>
          <p:cNvPr id="11" name="Text 6"/>
          <p:cNvSpPr/>
          <p:nvPr/>
        </p:nvSpPr>
        <p:spPr>
          <a:xfrm>
            <a:off x="414338" y="2728913"/>
            <a:ext cx="3986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UI Automation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414338" y="2957513"/>
            <a:ext cx="39862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Simulates human interactions with graphical interfaces</a:t>
            </a:r>
            <a:endParaRPr lang="en-US" sz="837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3189684"/>
            <a:ext cx="100013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2925" y="3171825"/>
            <a:ext cx="18047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Works with any application with a GUI</a:t>
            </a:r>
            <a:endParaRPr lang="en-US" sz="732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108" y="3189684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47696" y="3171825"/>
            <a:ext cx="13793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Fragile to UI changes, slower</a:t>
            </a:r>
            <a:endParaRPr lang="en-US" sz="732" dirty="0"/>
          </a:p>
        </p:txBody>
      </p:sp>
      <p:sp>
        <p:nvSpPr>
          <p:cNvPr id="17" name="Text 10"/>
          <p:cNvSpPr/>
          <p:nvPr/>
        </p:nvSpPr>
        <p:spPr>
          <a:xfrm>
            <a:off x="414337" y="4341298"/>
            <a:ext cx="3986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Hybrid Approach (Our Solution)</a:t>
            </a:r>
            <a:endParaRPr lang="en-US" sz="942" dirty="0"/>
          </a:p>
        </p:txBody>
      </p:sp>
      <p:sp>
        <p:nvSpPr>
          <p:cNvPr id="18" name="Text 11"/>
          <p:cNvSpPr/>
          <p:nvPr/>
        </p:nvSpPr>
        <p:spPr>
          <a:xfrm>
            <a:off x="414337" y="4569898"/>
            <a:ext cx="39862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Combines API and UI automation for maximum coverage</a:t>
            </a:r>
            <a:endParaRPr lang="en-US" sz="837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" y="4802070"/>
            <a:ext cx="100013" cy="1000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2924" y="4784211"/>
            <a:ext cx="15234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Optimal flexibility and resilience</a:t>
            </a:r>
            <a:endParaRPr lang="en-US" sz="732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7766" y="4802070"/>
            <a:ext cx="100013" cy="1000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266354" y="4784211"/>
            <a:ext cx="10229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Increased complexity</a:t>
            </a:r>
            <a:endParaRPr lang="en-US" sz="732" dirty="0"/>
          </a:p>
        </p:txBody>
      </p:sp>
      <p:sp>
        <p:nvSpPr>
          <p:cNvPr id="24" name="Text 14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F30012AB-27DD-04C0-6DBC-CC5A9B06EDA8}"/>
              </a:ext>
            </a:extLst>
          </p:cNvPr>
          <p:cNvSpPr/>
          <p:nvPr/>
        </p:nvSpPr>
        <p:spPr>
          <a:xfrm>
            <a:off x="414337" y="3551219"/>
            <a:ext cx="100027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MCP Integration</a:t>
            </a:r>
            <a:endParaRPr lang="en-US" sz="942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578D21E4-BD28-2E2A-6E4A-1A5A62575378}"/>
              </a:ext>
            </a:extLst>
          </p:cNvPr>
          <p:cNvSpPr/>
          <p:nvPr/>
        </p:nvSpPr>
        <p:spPr>
          <a:xfrm>
            <a:off x="414337" y="3755867"/>
            <a:ext cx="39862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programmatic access to services via structured APIs</a:t>
            </a:r>
            <a:endParaRPr lang="en-US" sz="837" dirty="0"/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14C24E68-0F15-ED75-9DEB-BE4BB49F8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" y="3988039"/>
            <a:ext cx="100013" cy="100013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342740E7-3F3B-EAF7-7608-2B0BD2A560A2}"/>
              </a:ext>
            </a:extLst>
          </p:cNvPr>
          <p:cNvSpPr/>
          <p:nvPr/>
        </p:nvSpPr>
        <p:spPr>
          <a:xfrm>
            <a:off x="542924" y="3970180"/>
            <a:ext cx="11906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Reliable, efficient, secure</a:t>
            </a:r>
            <a:endParaRPr lang="en-US" sz="732" dirty="0"/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2C8B7FA4-8473-6C8D-BCD7-EF453DAE9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024" y="3988039"/>
            <a:ext cx="100013" cy="100013"/>
          </a:xfrm>
          <a:prstGeom prst="rect">
            <a:avLst/>
          </a:prstGeom>
        </p:spPr>
      </p:pic>
      <p:sp>
        <p:nvSpPr>
          <p:cNvPr id="35" name="Text 5">
            <a:extLst>
              <a:ext uri="{FF2B5EF4-FFF2-40B4-BE49-F238E27FC236}">
                <a16:creationId xmlns:a16="http://schemas.microsoft.com/office/drawing/2014/main" id="{F58BC341-B3C7-3CEB-0424-52A732B6CED9}"/>
              </a:ext>
            </a:extLst>
          </p:cNvPr>
          <p:cNvSpPr/>
          <p:nvPr/>
        </p:nvSpPr>
        <p:spPr>
          <a:xfrm>
            <a:off x="1933611" y="3970180"/>
            <a:ext cx="12211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Limited by API availability</a:t>
            </a:r>
            <a:endParaRPr lang="en-US" sz="7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22819"/>
            <a:ext cx="4725653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 Integration Architecture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Integrating our agentic AI into a mobile application requires careful architectural decisions to balance performance, privacy, and user experience:</a:t>
            </a:r>
            <a:endParaRPr lang="en-US" sz="83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917678"/>
            <a:ext cx="3571875" cy="212250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43450" y="1100138"/>
            <a:ext cx="4114800" cy="728663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743450" y="1100138"/>
            <a:ext cx="21431" cy="72866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4"/>
          <p:cNvSpPr/>
          <p:nvPr/>
        </p:nvSpPr>
        <p:spPr>
          <a:xfrm>
            <a:off x="4814888" y="1171575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 Client (Cloud-Based)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4814888" y="1400175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 acts as UI, with core AI logic on remote servers</a:t>
            </a:r>
            <a:endParaRPr lang="en-US" sz="83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888" y="1632347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43475" y="1614488"/>
            <a:ext cx="19483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Access to powerful models, easy updates</a:t>
            </a:r>
            <a:endParaRPr lang="en-US" sz="732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259" y="1632347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91846" y="1614488"/>
            <a:ext cx="12570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Latency, offline limitations</a:t>
            </a:r>
            <a:endParaRPr lang="en-US" sz="732" dirty="0"/>
          </a:p>
        </p:txBody>
      </p:sp>
      <p:sp>
        <p:nvSpPr>
          <p:cNvPr id="14" name="Shape 8"/>
          <p:cNvSpPr/>
          <p:nvPr/>
        </p:nvSpPr>
        <p:spPr>
          <a:xfrm>
            <a:off x="4743450" y="1935956"/>
            <a:ext cx="4114800" cy="728663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4743450" y="1935956"/>
            <a:ext cx="21431" cy="72866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0"/>
          <p:cNvSpPr/>
          <p:nvPr/>
        </p:nvSpPr>
        <p:spPr>
          <a:xfrm>
            <a:off x="4814888" y="2007394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Thick Client (On-Device)</a:t>
            </a:r>
            <a:endParaRPr lang="en-US" sz="942" dirty="0"/>
          </a:p>
        </p:txBody>
      </p:sp>
      <p:sp>
        <p:nvSpPr>
          <p:cNvPr id="17" name="Text 11"/>
          <p:cNvSpPr/>
          <p:nvPr/>
        </p:nvSpPr>
        <p:spPr>
          <a:xfrm>
            <a:off x="4814888" y="2235994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logic runs directly on the mobile device</a:t>
            </a:r>
            <a:endParaRPr lang="en-US" sz="837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888" y="2468166"/>
            <a:ext cx="100013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43475" y="2450306"/>
            <a:ext cx="14499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Low latency, enhanced privacy</a:t>
            </a:r>
            <a:endParaRPr lang="en-US" sz="732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98" y="2468166"/>
            <a:ext cx="100013" cy="1000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93486" y="2450306"/>
            <a:ext cx="17484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Resource constraints, larger app size</a:t>
            </a:r>
            <a:endParaRPr lang="en-US" sz="732" dirty="0"/>
          </a:p>
        </p:txBody>
      </p:sp>
      <p:sp>
        <p:nvSpPr>
          <p:cNvPr id="22" name="Shape 14"/>
          <p:cNvSpPr/>
          <p:nvPr/>
        </p:nvSpPr>
        <p:spPr>
          <a:xfrm>
            <a:off x="4743450" y="2771775"/>
            <a:ext cx="4114800" cy="728663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23" name="Shape 15"/>
          <p:cNvSpPr/>
          <p:nvPr/>
        </p:nvSpPr>
        <p:spPr>
          <a:xfrm>
            <a:off x="4743450" y="2771775"/>
            <a:ext cx="21431" cy="72866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16"/>
          <p:cNvSpPr/>
          <p:nvPr/>
        </p:nvSpPr>
        <p:spPr>
          <a:xfrm>
            <a:off x="4814888" y="2843213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Hybrid Client (Our Approach)</a:t>
            </a:r>
            <a:endParaRPr lang="en-US" sz="942" dirty="0"/>
          </a:p>
        </p:txBody>
      </p:sp>
      <p:sp>
        <p:nvSpPr>
          <p:cNvPr id="25" name="Text 17"/>
          <p:cNvSpPr/>
          <p:nvPr/>
        </p:nvSpPr>
        <p:spPr>
          <a:xfrm>
            <a:off x="4814888" y="3071813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Balances processing between device and cloud</a:t>
            </a:r>
            <a:endParaRPr lang="en-US" sz="837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888" y="3303984"/>
            <a:ext cx="100013" cy="10001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943475" y="3286125"/>
            <a:ext cx="15124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Optimal performance, flexibility</a:t>
            </a:r>
            <a:endParaRPr lang="en-US" sz="732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323" y="3303984"/>
            <a:ext cx="100013" cy="100013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655910" y="3286125"/>
            <a:ext cx="16396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Increased architectural complexity</a:t>
            </a:r>
            <a:endParaRPr lang="en-US" sz="732" dirty="0"/>
          </a:p>
        </p:txBody>
      </p:sp>
      <p:sp>
        <p:nvSpPr>
          <p:cNvPr id="30" name="Text 20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Experience &amp; Interface Design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1364456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mobile AI assistant is designed with these key UX principles:</a:t>
            </a:r>
            <a:endParaRPr lang="en-US" sz="83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43075"/>
            <a:ext cx="107156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8638" y="1707356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Voice-First Interaction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528638" y="1907381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Prominent microphone button, clear visual feedback during listening, and intuitive ways to interrupt or correct the AI.</a:t>
            </a:r>
            <a:endParaRPr lang="en-US" sz="83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393156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8638" y="2357438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Feedback for Actions</a:t>
            </a:r>
            <a:endParaRPr lang="en-US" sz="837" dirty="0"/>
          </a:p>
        </p:txBody>
      </p:sp>
      <p:sp>
        <p:nvSpPr>
          <p:cNvPr id="10" name="Text 5"/>
          <p:cNvSpPr/>
          <p:nvPr/>
        </p:nvSpPr>
        <p:spPr>
          <a:xfrm>
            <a:off x="528638" y="2557463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 indicators, status messages, and animations that reassure users when the assistant is working on tasks.</a:t>
            </a:r>
            <a:endParaRPr lang="en-US" sz="837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043238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8638" y="3007519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Contextual Information Display</a:t>
            </a:r>
            <a:endParaRPr lang="en-US" sz="837" dirty="0"/>
          </a:p>
        </p:txBody>
      </p:sp>
      <p:sp>
        <p:nvSpPr>
          <p:cNvPr id="13" name="Text 7"/>
          <p:cNvSpPr/>
          <p:nvPr/>
        </p:nvSpPr>
        <p:spPr>
          <a:xfrm>
            <a:off x="528638" y="3207544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Presenting information (summaries, calendar entries, etc.) in visually organized, easily readable formats.</a:t>
            </a:r>
            <a:endParaRPr lang="en-US" sz="837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3693319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8638" y="3657600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Accessibility &amp; Transparency</a:t>
            </a:r>
            <a:endParaRPr lang="en-US" sz="837" dirty="0"/>
          </a:p>
        </p:txBody>
      </p:sp>
      <p:sp>
        <p:nvSpPr>
          <p:cNvPr id="16" name="Text 9"/>
          <p:cNvSpPr/>
          <p:nvPr/>
        </p:nvSpPr>
        <p:spPr>
          <a:xfrm>
            <a:off x="528638" y="3857625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for screen readers, clear contrast, customizable text sizes, and transparent permission management.</a:t>
            </a:r>
            <a:endParaRPr lang="en-US" sz="837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4913" y="1496616"/>
            <a:ext cx="3571875" cy="267890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6CBE6C38-66FA-54F6-7430-E64DDA3AE7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4388644"/>
            <a:ext cx="142875" cy="142875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1BEE8424-0AC2-C579-AD62-2E0537D8A644}"/>
              </a:ext>
            </a:extLst>
          </p:cNvPr>
          <p:cNvSpPr/>
          <p:nvPr/>
        </p:nvSpPr>
        <p:spPr>
          <a:xfrm>
            <a:off x="528638" y="4374241"/>
            <a:ext cx="83837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/>
              <a:t>USER DASHBOARD</a:t>
            </a: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D294FD0-69D3-3E6F-0ADE-60BCAA0449F6}"/>
              </a:ext>
            </a:extLst>
          </p:cNvPr>
          <p:cNvSpPr/>
          <p:nvPr/>
        </p:nvSpPr>
        <p:spPr>
          <a:xfrm>
            <a:off x="528638" y="4659991"/>
            <a:ext cx="3871913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 SUMMERIES FOR USER LIFE STATS.</a:t>
            </a:r>
            <a:endParaRPr lang="en-US" sz="83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FD809-FFB1-C9BA-4CA5-13ACC0CA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E9BE84E-361D-C555-4C02-1EED4421FCC3}"/>
              </a:ext>
            </a:extLst>
          </p:cNvPr>
          <p:cNvSpPr/>
          <p:nvPr/>
        </p:nvSpPr>
        <p:spPr>
          <a:xfrm>
            <a:off x="285750" y="322819"/>
            <a:ext cx="679673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Tools</a:t>
            </a:r>
            <a:endParaRPr lang="en-US" sz="2025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9BA19CC-122C-3D85-F622-4805C7744F1D}"/>
              </a:ext>
            </a:extLst>
          </p:cNvPr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9C62D0-D898-0BF8-BF4F-A7227C52AA2F}"/>
              </a:ext>
            </a:extLst>
          </p:cNvPr>
          <p:cNvSpPr txBox="1"/>
          <p:nvPr/>
        </p:nvSpPr>
        <p:spPr>
          <a:xfrm>
            <a:off x="285750" y="874059"/>
            <a:ext cx="7715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 chain / lang graph</a:t>
            </a:r>
          </a:p>
          <a:p>
            <a:r>
              <a:rPr lang="en-US" dirty="0" err="1"/>
              <a:t>FastApIs</a:t>
            </a:r>
            <a:endParaRPr lang="en-US" dirty="0"/>
          </a:p>
          <a:p>
            <a:r>
              <a:rPr lang="en-US" dirty="0"/>
              <a:t>React Native/swift/</a:t>
            </a:r>
            <a:r>
              <a:rPr lang="en-US" dirty="0" err="1"/>
              <a:t>kotlin</a:t>
            </a:r>
            <a:endParaRPr lang="en-US" dirty="0"/>
          </a:p>
          <a:p>
            <a:r>
              <a:rPr lang="en-US" dirty="0"/>
              <a:t>LLMs</a:t>
            </a:r>
          </a:p>
          <a:p>
            <a:r>
              <a:rPr lang="en-US" dirty="0" err="1"/>
              <a:t>ui</a:t>
            </a:r>
            <a:r>
              <a:rPr lang="en-US" dirty="0"/>
              <a:t> automation frameworks</a:t>
            </a:r>
          </a:p>
        </p:txBody>
      </p:sp>
    </p:spTree>
    <p:extLst>
      <p:ext uri="{BB962C8B-B14F-4D97-AF65-F5344CB8AC3E}">
        <p14:creationId xmlns:p14="http://schemas.microsoft.com/office/powerpoint/2010/main" val="318265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BEF399-CB4A-5798-EFFB-80597183FCD0}"/>
              </a:ext>
            </a:extLst>
          </p:cNvPr>
          <p:cNvSpPr txBox="1"/>
          <p:nvPr/>
        </p:nvSpPr>
        <p:spPr>
          <a:xfrm>
            <a:off x="438912" y="540758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Papers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511A87-43CB-8415-428E-FC88CBFED89D}"/>
              </a:ext>
            </a:extLst>
          </p:cNvPr>
          <p:cNvSpPr txBox="1"/>
          <p:nvPr/>
        </p:nvSpPr>
        <p:spPr>
          <a:xfrm>
            <a:off x="685800" y="1243853"/>
            <a:ext cx="81419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https://dl.acm.org/doi/pdf/10.1145/3701716.3717526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https://www.ijfmr.com/papers/2024/6/30587.pdf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https://docs.google.com/document/d/1ZNkWWtxbpc3uKEaw0kXe1EsEHNV6KavYRQk7lzeh_0c/edit?tab=t.0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681</Words>
  <Application>Microsoft Office PowerPoint</Application>
  <PresentationFormat>On-screen Show (16:9)</PresentationFormat>
  <Paragraphs>115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Abdullah</cp:lastModifiedBy>
  <cp:revision>3</cp:revision>
  <dcterms:created xsi:type="dcterms:W3CDTF">2025-08-18T12:01:00Z</dcterms:created>
  <dcterms:modified xsi:type="dcterms:W3CDTF">2025-08-27T13:17:14Z</dcterms:modified>
</cp:coreProperties>
</file>